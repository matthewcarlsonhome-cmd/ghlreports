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354312" y="420624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48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LOU GROWTH PROGRAM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914400" y="3200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marketing for pool, spa &amp; hot tub dealers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3886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 program  •  Evosus  ×  Small Screen Producer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partner review  •  August 2026  •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Dealers already own their best growth channel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 customer database is the cheapest revenue a dealer has — and today it sits idle.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0F6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3–5×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selling to existing customers vs. cold acquisition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0F6F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$400–800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 per year of water-care spend that leaks to Amazon &amp; big-box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0F6F9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66760" y="2788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stalled big-ticket quotes recovered often outearns every other campaign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dealer marketing chases new customers, while repeat revenue — chemicals, service plans, openings and closings, upgrades — goes unprompted. Every completed order in LOU is a marketing moment that currently goes unused.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nobody else can close the loop: </a:t>
            </a:r>
            <a:pPr indent="0" marL="0">
              <a:buNone/>
            </a:pPr>
            <a:r>
              <a:rPr lang="en-US" sz="16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orders live in LOU, campaigns can be measured in orders and dollars — not clicks.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program, three winners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Dan’s framing, made concrete — each party invests what it already has and gets what it can’t build alone.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0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01952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802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019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free inside LOU; authorizes secure data sharing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lifecycle campaigns — no staff time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report: campaigns → orders → dollars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0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190195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0802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9019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Evosus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17720" y="2834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APIs, enrollment UX &amp; new data triggers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 differentiation: marketing that ships with the platform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referrals of non-LOU pool &amp; spa businesses from SSP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0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9019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802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19019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Screen Producer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12480" y="2834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creative, execution in MyLeadHub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compliance &amp; attribution reporting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qualified dealer referrals from Evosus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flywheel: results → case studies → Evosus referrals → more dealers → more results.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dealer experience: four steps, zero heavy lifting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1488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177" y="23746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Enroll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9808" y="37033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into the Evosus Integration Partnership inside LOU. No cost. One authorization screen.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127248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4279392" y="21488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249" y="23746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Onboard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11880" y="37033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syncs history, builds segments, sets brand voice &amp; offers with the dealer. About two weeks.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989320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272784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</p:spPr>
      </p:sp>
      <p:sp>
        <p:nvSpPr>
          <p:cNvPr id="16" name="Shape 12"/>
          <p:cNvSpPr/>
          <p:nvPr/>
        </p:nvSpPr>
        <p:spPr>
          <a:xfrm>
            <a:off x="7141464" y="21488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21" y="237469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Run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73952" y="37033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fire automatically from LOU order activity. Dealer approves offers; SSP does the rest.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851392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9134856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1295C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03536" y="21488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9393" y="237469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7736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Prove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336024" y="37033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Attribution Report ties every campaign to real orders recorded in LOU.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cost to enroll” stays true: dealers subscribe only to SSP’s managed marketing program, with the integration itself free.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engine: staged to match the Evosus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81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Launch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Nightly order sync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orders-by-date API (late Aug) lists each day’s orders per dealer. SSP pulls details — contacts, SKUs, dollar amounts — via existing APIs. Completed Sale &amp; Work orders trigger campaigns in MyLeadHub.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829800" y="1801368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0F6F9"/>
          </a:solidFill>
          <a:ln/>
        </p:spPr>
      </p:sp>
      <p:sp>
        <p:nvSpPr>
          <p:cNvPr id="8" name="Text 6"/>
          <p:cNvSpPr/>
          <p:nvPr/>
        </p:nvSpPr>
        <p:spPr>
          <a:xfrm>
            <a:off x="9921240" y="18013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7 of 9 campaigns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09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Near-term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593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push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0" y="3090672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Evosus’ in-development push solution moves triggers from next-day to same-hour. Biggest win: post-service satisfaction checks while the visit is fresh.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829800" y="3429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0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992124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review capture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72584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37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Roadmap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221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triggers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657600" y="4718304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quotes, install dates &amp; equipment age, appointments. Each new trigger Evosus ships unlocks a named, revenue-linked campaign.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829800" y="5056632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0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50566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campaigns 4 &amp; 9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Per-dealer credentials  •  data used only for that dealer’s marketing  •  deleted on disenrollment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campaigns, all triggered by LOU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run on launch data. Two (†) are unlocked by roadmap triggers — the API roadmap with revenue attached.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824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18298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Welcome Splash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204825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Sale order → welcome, review capture, starter cross-sell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481328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16824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969" y="182989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627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Complete the Backyard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257800" y="204825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SKUs → matched accessory bundles for big-ticket buyers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481328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16824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29" y="182989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627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Service Excellence Loop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052560" y="204825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done → satisfaction check, reviews, plan upsell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14553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346704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349410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291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Quote Rescue †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63040" y="371246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estimates → 5-touch recovery, financing framing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14553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4568" y="334670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969" y="3494105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291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Water Care Autopilot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257800" y="371246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cycles → reorder into LOU ecommerce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14553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9328" y="334670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729" y="3494105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3291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Season Ready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052560" y="371246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+ calendar → early-bird openings &amp; closings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4809744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35" name="Shape 27"/>
          <p:cNvSpPr/>
          <p:nvPr/>
        </p:nvSpPr>
        <p:spPr>
          <a:xfrm>
            <a:off x="749808" y="50109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09" y="5158313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49560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Welcome Back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1463040" y="53766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mo. dormant → win-back offer + feedback ask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4343400" y="4809744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40" name="Shape 31"/>
          <p:cNvSpPr/>
          <p:nvPr/>
        </p:nvSpPr>
        <p:spPr>
          <a:xfrm>
            <a:off x="4544568" y="50109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1969" y="5158313"/>
            <a:ext cx="272125" cy="2721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57800" y="49560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Upgrade Path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5257800" y="53766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Service-only customers → repair-vs-replace, showroom traffic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8138160" y="4809744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6F9"/>
          </a:solidFill>
          <a:ln/>
        </p:spPr>
      </p:sp>
      <p:sp>
        <p:nvSpPr>
          <p:cNvPr id="45" name="Shape 35"/>
          <p:cNvSpPr/>
          <p:nvPr/>
        </p:nvSpPr>
        <p:spPr>
          <a:xfrm>
            <a:off x="8339328" y="5010912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6729" y="5158313"/>
            <a:ext cx="272125" cy="27212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052560" y="49560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Smart Replacement †</a:t>
            </a:r>
            <a:endParaRPr lang="en-US" sz="1450" dirty="0"/>
          </a:p>
        </p:txBody>
      </p:sp>
      <p:sp>
        <p:nvSpPr>
          <p:cNvPr id="48" name="Text 37"/>
          <p:cNvSpPr/>
          <p:nvPr/>
        </p:nvSpPr>
        <p:spPr>
          <a:xfrm>
            <a:off x="9052560" y="53766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age → planned replacement before failure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Welcome &amp; Grow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first purchases into lasting, higher-value relationships.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0F6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Welcome Splash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completed Sale order for a new Customer ID.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572768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touches / 30 days: thank-you → SMS check-in → Google review ask (day 5) → care guide → accessory bundle → service-plan intro.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0" y="1572768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pays: </a:t>
            </a:r>
            <a:pPr indent="0" marL="0">
              <a:buNone/>
            </a:pPr>
            <a:r>
              <a:rPr lang="en-US" sz="120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new customers/mo × 15% attach × $120 ≈ $1,800/mo — plus compounding review velocity.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0F6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5020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Complete the Backyard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Sale order SKUs; branches by product category.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3950208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SKU-matched bundle email → day 14 SMS with offer expiry → day 45 seasonal follow-on.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3950208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pays: </a:t>
            </a:r>
            <a:pPr indent="0" marL="0">
              <a:buNone/>
            </a:pPr>
            <a:r>
              <a:rPr lang="en-US" sz="120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tub buyers spend $300–600 on accessories in 90 days when prompted — or Amazon gets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Service &amp; Retain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service visit and season a revenue event.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Service Excellence Loop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completed.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572768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SMS rating → 4–5 gets review link; 1–3 alerts dealer to save it → day 14 service-plan offer → day 30 referral ask.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0" y="1572768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pays: </a:t>
            </a:r>
            <a:pPr indent="0" marL="0">
              <a:buNone/>
            </a:pPr>
            <a:r>
              <a:rPr lang="en-US" sz="120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compound local search; plans convert 5–8% of serviced customers to recurring revenue.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72968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Water Care Autopilot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7764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SKU purchase date + depletion cycle.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3172968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reminder at ~80% of cycle with one-click LOU ecommerce link → SMS nudge at 100% → quarterly water-test invite.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3172968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pays: </a:t>
            </a:r>
            <a:pPr indent="0" marL="0">
              <a:buNone/>
            </a:pPr>
            <a:r>
              <a:rPr lang="en-US" sz="120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the $400–800/yr consumables leak with timing, not discounts.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73168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Season Ready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3766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Purchase-history segment + regional calendar.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4773168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opening early-bird → chemical stock-up → mid-season tune-up → fall closing + cover check → winter spa season.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0" y="4773168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pays: </a:t>
            </a:r>
            <a:pPr indent="0" marL="0">
              <a:buNone/>
            </a:pPr>
            <a:r>
              <a:rPr lang="en-US" sz="120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openings/closings 2–4 weeks earlier; fills shoulder-season capacity.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Recover &amp; Upgrade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back stalled quotes, dormant customers, and aging equipment.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Quote Rescue †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created, unconverted after N days (roadmap trigger).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572768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recap → day 5 SMS → day 9 financing framing → day 14 install-slot urgency → day 21 last call + incentive.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0" y="1572768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pays: </a:t>
            </a:r>
            <a:pPr indent="0" marL="0">
              <a:buNone/>
            </a:pPr>
            <a:r>
              <a:rPr lang="en-US" sz="120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$8–15k tickets, recovering 5% of dead quotes often outearns everything else.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72968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Welcome Back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7764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completed order in 12–18 months.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3172968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miss you” + free water test → SMS comeback offer → one-question feedback ask.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3172968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pays: </a:t>
            </a:r>
            <a:pPr indent="0" marL="0">
              <a:buNone/>
            </a:pPr>
            <a:r>
              <a:rPr lang="en-US" sz="120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dormant × 4% × $250 ≈ $20k recovered from customers already paid for.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73168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· Upgrade Path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3766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only, or repeat repairs on the same equipment.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4773168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Repair-vs-replace math → energy-efficiency story (VS pumps, heat pumps) → trade-in event invite.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0" y="4773168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pays: </a:t>
            </a:r>
            <a:pPr indent="0" marL="0">
              <a:buNone/>
            </a:pPr>
            <a:r>
              <a:rPr lang="en-US" sz="1200" i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Service-only customers are pre-qualified, high-trust showroom traffic.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signature promise: closed-loop attribution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touches matched to subsequent LOU orders by Customer ID, inside a 30-day window.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51560"/>
                <a:gridCol w="1188720"/>
                <a:gridCol w="1280160"/>
                <a:gridCol w="1325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Attributed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Attributed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Splash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Excellence Loop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$5,930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Care Autopilot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$4,270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 Ready (closings)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$18,240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monthly Revenue Attribution Report (per dealer)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63840" y="155448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13816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party sees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228600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campaigns → orders → dollars, plus review volume and list growth.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Evosus: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program scorecard (no customer data) — enrolled dealers, campaigns live, attributed revenue. The referral fuel.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per-campaign optimization metrics to tune copy, timing &amp; offers.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local marketing reports clicks. This program reports orders.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90-day pilot: small and convincing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dealers, starting on the new orders-by-date API. De-risks engineering; produces the case study that scales the program.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Authorizations &amp; per-dealer credentials; sync validated end-to-end; brand voice, offers, templates, consent rules.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93592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 live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93592" y="26060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Splash · Service Excellence Loop · Complete the Backyard.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55664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+ optimize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55664" y="26060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Ready · Water Care Autopilot; first attribution reports; copy &amp; offer tuning.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34856" y="1600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9317736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17736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 + scorecard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17736" y="26060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· Upgrade Path; pilot scorecard; joint case study; go/no-go &amp; pricing for scale-up.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targets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attributed order per 100 synced contacts/month by month 3      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monthly Google review volume vs. baseline      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 of the dormant file reactivated  •  5–8% of serviced customers offered a plan convert      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pilot dealer willing to be a reference — the referral-engine test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" y="2606040"/>
            <a:ext cx="54864" cy="868680"/>
          </a:xfrm>
          <a:prstGeom prst="rect">
            <a:avLst/>
          </a:prstGeom>
          <a:solidFill>
            <a:srgbClr val="D5E2EA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· Pilot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Sep–Nov 2026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0" y="16459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dealers on nightly sync; prove attribution; assemble the case study.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9264" y="4206240"/>
            <a:ext cx="54864" cy="868680"/>
          </a:xfrm>
          <a:prstGeom prst="rect">
            <a:avLst/>
          </a:prstGeom>
          <a:solidFill>
            <a:srgbClr val="D5E2EA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· Productize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9164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2026–Jan 2027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0" y="32461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pricing; in-LOU enrollment flow; co-branded collateral; real-time triggers as Evosus ships them.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74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· Scale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5349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0" y="48463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Evosus referral engine live; QBRs per dealer; quote &amp; install-date triggers unlock campaigns 4 &amp; 9; joint industry-event presence.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Business-model note: mutual referrals are the working assumption — terms, revenue share, and exclusivity get finalized during the pilot, with real numbers on the table.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607040" y="2743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rgbClr val="2E3A6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1804111"/>
            <a:ext cx="241402" cy="2414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1600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657600" y="1600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interim API scope with Evosus engineering — completed-order handling, status values, dollar amounts (reply in progress).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777240" y="2724912"/>
            <a:ext cx="502920" cy="502920"/>
          </a:xfrm>
          <a:prstGeom prst="ellipse">
            <a:avLst/>
          </a:prstGeom>
          <a:solidFill>
            <a:srgbClr val="2E3A6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855671"/>
            <a:ext cx="241402" cy="2414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8760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session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657600" y="2651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this campaign portfolio, the pilot shape, and referral terms in the next Pam–Dan working session.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777240" y="3776472"/>
            <a:ext cx="502920" cy="502920"/>
          </a:xfrm>
          <a:prstGeom prst="ellipse">
            <a:avLst/>
          </a:prstGeom>
          <a:solidFill>
            <a:srgbClr val="2E3A6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907231"/>
            <a:ext cx="241402" cy="2414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parallel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657600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builds the sync + attribution pipeline against the acceptance environment now — pilot starts the week production credentials arrive.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77240" y="4828032"/>
            <a:ext cx="502920" cy="502920"/>
          </a:xfrm>
          <a:prstGeom prst="ellipse">
            <a:avLst/>
          </a:prstGeom>
          <a:solidFill>
            <a:srgbClr val="2E3A6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958791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08760" y="4754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3657600" y="4754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select 3–5 pilot dealers; SSP drafts the three-party data-sharing agreement.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 Growth Program  •  Evosus × Small Screen Producer  •  August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2026-08-20T19:12:38Z</dcterms:created>
  <dcterms:modified xsi:type="dcterms:W3CDTF">2026-08-20T19:12:38Z</dcterms:modified>
</cp:coreProperties>
</file>